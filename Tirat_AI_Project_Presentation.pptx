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2926080" cy="365760"/>
          </a:xfrm>
          <a:prstGeom prst="roundRect">
            <a:avLst/>
          </a:prstGeom>
          <a:solidFill>
            <a:srgbClr val="18213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OFFLINE-FIRST EDGE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Tirat AI (ጥራት)</a:t>
            </a:r>
          </a:p>
          <a:p>
            <a:pPr>
              <a:defRPr sz="2200">
                <a:solidFill>
                  <a:srgbClr val="06B6D4"/>
                </a:solidFill>
              </a:defRPr>
            </a:pPr>
            <a:r>
              <a:t>Real-Time Food Adulteration Detection on Mobile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end-to-end computer vision platform designed for offline detection of adulteration in staple foods (Red Chili Powder and Teff Flour) directly on low-cost smartphones using optimized MobileNetV3 and TFLite.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37744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96.8%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Pure Recall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Jumped from 0% after rebalancing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389120"/>
            <a:ext cx="237744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45262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95.2%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Test Accuracy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On balanced held-out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237744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5262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1.95 MB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Model Size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Float16 TFLite for fast edge loading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389120"/>
            <a:ext cx="2377440" cy="16459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45262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4444"/>
                </a:solidFill>
              </a:defRPr>
            </a:pPr>
            <a:r>
              <a:t>&lt; 45 ms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Inference Latency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Offline native C++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Food Adulteration: The Challenge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Addressing hazardous food fraud in everyday staples without requiring expensive laboratory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Fraud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Hazardous Fillers: </a:t>
            </a:r>
            <a:r>
              <a:rPr sz="1100">
                <a:solidFill>
                  <a:srgbClr val="94A3B8"/>
                </a:solidFill>
              </a:rPr>
              <a:t>Chili powder adulterated with toxic brick powder, sawdust, artificial coal-tar dyes, and low-grade pepper.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Teff Adulteration: </a:t>
            </a:r>
            <a:r>
              <a:rPr sz="1100">
                <a:solidFill>
                  <a:srgbClr val="94A3B8"/>
                </a:solidFill>
              </a:rPr>
              <a:t>Ethiopia's primary grain (Teff) frequently diluted with cheap starches, clay, and wheat husks.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Severe Health Risks: </a:t>
            </a:r>
            <a:r>
              <a:rPr sz="1100">
                <a:solidFill>
                  <a:srgbClr val="94A3B8"/>
                </a:solidFill>
              </a:rPr>
              <a:t>Chronic ingestion leads to gastrointestinal damage, organ toxicity, and carcinogenic exposure.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Economic Impact: </a:t>
            </a:r>
            <a:r>
              <a:rPr sz="1100">
                <a:solidFill>
                  <a:srgbClr val="94A3B8"/>
                </a:solidFill>
              </a:rPr>
              <a:t>Smallholder farmers and honest merchants lose market value to fraudulent distributors.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Why Conventional Tests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Prohibitive Equipment: </a:t>
            </a:r>
            <a:r>
              <a:rPr sz="1100">
                <a:solidFill>
                  <a:srgbClr val="94A3B8"/>
                </a:solidFill>
              </a:rPr>
              <a:t>HPLC, mass spectrometry, and chemical chromatography cost $20k-$80k per testing setup.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Multi-Day Turnaround: </a:t>
            </a:r>
            <a:r>
              <a:rPr sz="1100">
                <a:solidFill>
                  <a:srgbClr val="94A3B8"/>
                </a:solidFill>
              </a:rPr>
              <a:t>Samples must be shipped to centralized laboratories, taking 3-7 days for report issuance.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No Market Accessibility: </a:t>
            </a:r>
            <a:r>
              <a:rPr sz="1100">
                <a:solidFill>
                  <a:srgbClr val="94A3B8"/>
                </a:solidFill>
              </a:rPr>
              <a:t>Zero instant feedback for consumers and food inspectors in local open-air markets.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High Reagent Costs: </a:t>
            </a:r>
            <a:r>
              <a:rPr sz="1100">
                <a:solidFill>
                  <a:srgbClr val="94A3B8"/>
                </a:solidFill>
              </a:rPr>
              <a:t>Single-use chemical reagents are recurring expenses out of reach for rural communities.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Tirat Edge AI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100% Offline Inference: </a:t>
            </a:r>
            <a:r>
              <a:rPr sz="1100">
                <a:solidFill>
                  <a:srgbClr val="94A3B8"/>
                </a:solidFill>
              </a:rPr>
              <a:t>Runs locally on Android hardware via TensorFlow Lite; zero cellular data or cloud dependency.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Instant Results (&lt;50ms): </a:t>
            </a:r>
            <a:r>
              <a:rPr sz="1100">
                <a:solidFill>
                  <a:srgbClr val="94A3B8"/>
                </a:solidFill>
              </a:rPr>
              <a:t>Provides immediate binary purity verdict and confidence breakdown upon photo capture.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Multi-Layer Guardrails: </a:t>
            </a:r>
            <a:r>
              <a:rPr sz="1100">
                <a:solidFill>
                  <a:srgbClr val="94A3B8"/>
                </a:solidFill>
              </a:rPr>
              <a:t>Built-in texture variance and color ratio gates reject walls, hands, or invalid surfaces.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Accessible &amp; Bilingual: </a:t>
            </a:r>
            <a:r>
              <a:rPr sz="1100">
                <a:solidFill>
                  <a:srgbClr val="94A3B8"/>
                </a:solidFill>
              </a:rPr>
              <a:t>Full Amharic (አማርኛ) and English localization tailored for Ethiopian and regional markets.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Full-Stack Edge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End-to-end integration across React Native frontend, native C++ TFLite engine, and local SQLite persistence.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96596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Camera &amp; Capture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Expo Camera / Native frame grabber. Image captured at native resolution with focus guidance overlay.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1737360"/>
            <a:ext cx="196596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92024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2. OOD &amp; Texture Gate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Fast on-device statistical validation. Checks color ratio (Red/Brown) and pixel variance to reject invalid non-food objects.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1737360"/>
            <a:ext cx="196596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92024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3. Preprocessing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Preserves aspect ratio, center crops to 224x224 RGB. Keeps raw [0..255] float tensors (model embeds normalization).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737360"/>
            <a:ext cx="196596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8" y="192024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Native TFLite Engine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C++ Nitro runtime (react-native-fast-tflite). Executes Float16 MobileNetV3 model in ~35ms with zero JNI overhead.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737360"/>
            <a:ext cx="196596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0344" y="1920240"/>
            <a:ext cx="1691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5. UX &amp; Local DB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Instant verdict meter, confidence gauge, and auto-logging to local SQLite database with async batch sync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DEEP-DIVE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Red Chili Adulteration Model: Diagnosis &amp; Root Causes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Investigating why the initial model classified 100% of samples (including pure training data) as 'Adulterated'.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Calibri"/>
              </a:defRPr>
            </a:pPr>
            <a:r>
              <a:t>Cause 1: 10:1 Class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Dataset Anatomy: Mendeley DS-WH-1 consists of DS-I (binary) and DS-II (16-class quantification).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The Imbalance: DS-I + DS-II yielded 4,735 Adulterated images against only 492 Pure images.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Model Prior Bias: The cross-entropy loss heavily penalized missing adulterated cases, converging to an overwhelming prior probability of ~91% Adulterated.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Cause 2: Double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Graph Layer: train_redchili.py explicitly embedded tf.keras.layers.Rescaling(1/127.5, offset=-1.0).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The Discrepancy: External test scripts and testing harnesses pre-divided incoming images by 255.0 (img / 255.0 =&gt; [0..1.0]).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Tensor Collapse: Re-scaling [0..1.0] by 1/127.5 collapsed inputs to ~[-1.0, -0.99] (black image), forcing the network into default majority-class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Calibri"/>
              </a:defRPr>
            </a:pPr>
            <a:r>
              <a:t>Cause 3: Omitted Pure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Data Audit: Discovered 124 pristine pure chili images tucked away inside C1_PWH/Test and WH00/Test directories.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Unlocking Balance: Recovering these test splits expanded total pure data from 492 to 616 images.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• The Solution: Reconstructed an exact 1:1 balanced dataset (616 Pure vs 616 Adulterated) stratified across all 16 adulterant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Dataset Engineering &amp; Stratified Rebalancing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Building a rigorous 1:1 balanced distribution across 16 adulterants to eliminate bias and ensure generalization.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Stratified Sampling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Total Pure Samples (616): </a:t>
            </a:r>
            <a:r>
              <a:rPr sz="1100">
                <a:solidFill>
                  <a:srgbClr val="94A3B8"/>
                </a:solidFill>
              </a:rPr>
              <a:t>308 from C1_PWH (binary pure set) + 308 from WH00 (0% adulteration set).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Total Adulterated Samples (616): </a:t>
            </a:r>
            <a:r>
              <a:rPr sz="1100">
                <a:solidFill>
                  <a:srgbClr val="94A3B8"/>
                </a:solidFill>
              </a:rPr>
              <a:t>Uniformly sampled across 16 sub-categories (38-39 images each) representing Sawdust, Brick Powder, Wheat Bran, Rice Husk, and Spent Chili at 5%, 10%, and 15% concentrations.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Strict 80 / 10 / 10 Split: </a:t>
            </a:r>
            <a:r>
              <a:rPr sz="1100">
                <a:solidFill>
                  <a:srgbClr val="94A3B8"/>
                </a:solidFill>
              </a:rPr>
              <a:t>Training: 985 images (492 pure, 493 adulterated)
Validation: 123 images (62 pure, 61 adulterated)
Test Split: 124 images (62 pure, 62 adulterated)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Phone-Camera Augmentation: </a:t>
            </a:r>
            <a:r>
              <a:rPr sz="1100">
                <a:solidFill>
                  <a:srgbClr val="94A3B8"/>
                </a:solidFill>
              </a:rPr>
              <a:t>Simulates handheld mobile use with random rotation (±15°), zoom (0.9-1.1x), brightness jitter (±10%), and horizontal flips.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Calibri"/>
              </a:defRPr>
            </a:pPr>
            <a:r>
              <a:t>Dataset Distribution Breakdown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92240" y="2377440"/>
          <a:ext cx="4663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Dataset Split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Pure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Adulterated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Train (80%)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492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493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Validation (10%)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Test (Held-Out 10%)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Total Dataset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616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616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B6D4"/>
                          </a:solidFill>
                        </a:defRPr>
                      </a:pPr>
                      <a:r>
                        <a:t>1,232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2240" y="4572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Key Takeaway: Balanced 1.0/1.0 Class Weights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Rebalancing the dataset completely eliminated the prior bias, enabling the neural network to discover actual morphological features of pure chili rather than taking a statistical shortcut.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TRAINING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Model Architecture &amp; Two-Phase Transfer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Deploying MobileNetV3-Small with progressive unfreezing and embedded graph normalization.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MobileNetV3-Small Backbone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Selected for lowest FLOP count, minimal RAM usage (&lt;15 MB during inference), and high latency efficiency on ARM Cortex cores. Pretrained on ImageNet-1k.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In-Graph Normalization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The Rescaling(1/127.5, offset=-1.0) layer is frozen directly in the computation graph. The mobile app passes raw 0..255 floats, completely immune to train-serve normalization skew.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Phase 1: Feature Extraction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10 Epochs with backbone frozen. Trains custom dense head (Dropout 0.3 + Dense 128 + Softmax 2) using Adam optimizer at lr=1e-3. Reached 94.3% validation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Phase 2: Fine-Tuning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15 Epochs unfreezing the top 30 convolutional layers. Uses fine learning rate (1e-4) with Cosine Decay and Warmup. Pushed validation accuracy to 96.75%.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MODEL 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Empirical Training Dynamics &amp;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Tracking loss minimization and accuracy progression across Phase 1 (frozen) and Phase 2 (fine-tuning).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pic>
        <p:nvPicPr>
          <p:cNvPr id="8" name="Picture 7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583680" cy="23940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737360"/>
            <a:ext cx="384048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874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Training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Phase 1 Convergence: </a:t>
            </a:r>
            <a:r>
              <a:rPr sz="1100">
                <a:solidFill>
                  <a:srgbClr val="94A3B8"/>
                </a:solidFill>
              </a:rPr>
              <a:t>Head adaptation occurred rapidly within 4 epochs, reaching 94.3% validation accuracy and val_loss of 0.22.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Phase 2 Refinement: </a:t>
            </a:r>
            <a:r>
              <a:rPr sz="1100">
                <a:solidFill>
                  <a:srgbClr val="94A3B8"/>
                </a:solidFill>
              </a:rPr>
              <a:t>Unfreezing top layers allowed feature extractors to capture subtle grain texture differences between chili seeds and sawdust/husk particles.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Peak Val Accuracy: </a:t>
            </a:r>
            <a:r>
              <a:rPr sz="1100">
                <a:solidFill>
                  <a:srgbClr val="94A3B8"/>
                </a:solidFill>
              </a:rPr>
              <a:t>Achieved 96.75% validation accuracy with validation loss dropping to 0.0999.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Overfitting Control: </a:t>
            </a:r>
            <a:r>
              <a:rPr sz="1100">
                <a:solidFill>
                  <a:srgbClr val="94A3B8"/>
                </a:solidFill>
              </a:rPr>
              <a:t>Dropout (0.3) combined with phone-camera data augmentations prevented memorization on small sample subsets.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EVALUATION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Held-Out Test Benchmarks &amp;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Rigorous evaluation on 124 held-out test images demonstrating 96.8% recall on pure chili samples.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1737360"/>
            <a:ext cx="530352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Calibri"/>
              </a:defRPr>
            </a:pPr>
            <a:r>
              <a:t>Classification Report (Test Set)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2286000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68680"/>
                <a:gridCol w="868680"/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Pure Chili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93.8%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96.8%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Adulterated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96.7%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95.1%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Macro Avg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95.2%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121A2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42976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Massive Recall Leap: </a:t>
            </a:r>
            <a:r>
              <a:rPr sz="1050">
                <a:solidFill>
                  <a:srgbClr val="94A3B8"/>
                </a:solidFill>
              </a:rPr>
              <a:t>Pure recall surged from ~0% (prior majority collapse) to 96.8% (60 of 62 pure test samples correctly identified).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Minimal False Adulteration: </a:t>
            </a:r>
            <a:r>
              <a:rPr sz="1050">
                <a:solidFill>
                  <a:srgbClr val="94A3B8"/>
                </a:solidFill>
              </a:rPr>
              <a:t>Only 2 pure samples were misclassified, safeguarding consumers and traders from false alarms.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Balanced Accuracy: </a:t>
            </a:r>
            <a:r>
              <a:rPr sz="1050">
                <a:solidFill>
                  <a:srgbClr val="94A3B8"/>
                </a:solidFill>
              </a:rPr>
              <a:t>95.2% overall test accuracy on totally unseen images confirms genuine feature discrimination.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EDGE AI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Edge Optimization, Quantization &amp; App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Optimizing the model for zero-cloud latency and bulletproof on-device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Float16 TFLite Quantization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Converted via TFLiteConverter with FP16 weights. Reduced binary size to 1.95 MB while preserving 99.98% floating point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Nitro C++ Native Runtime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Powered by react-native-fast-tflite directly over Android NDK. Eliminates React Native bridge overhead for &lt;45ms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Universal Texture Gate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Pixel variance analysis rejects flat non-food surfaces (walls, dark pockets, phone screens) before invoking neural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Color Ratio Pre-Filter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Food-specific color gating (Red ratio for chili, Brown ratio for teff) rejects off-target objects and non-food contaminants.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Production Engineering &amp; Repository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Maintaining strict code standards, passing automated unit tests, and optimizing build artifacts.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Repository Purge (-317 MB)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Removed Heavy Binaries: </a:t>
            </a:r>
            <a:r>
              <a:rPr sz="1100">
                <a:solidFill>
                  <a:srgbClr val="94A3B8"/>
                </a:solidFill>
              </a:rPr>
              <a:t>Purged 181 MB app-today.apk and 86 MB app-latest.apk from git tracking.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Cleaned Checkpoint Backups: </a:t>
            </a:r>
            <a:r>
              <a:rPr sz="1100">
                <a:solidFill>
                  <a:srgbClr val="94A3B8"/>
                </a:solidFill>
              </a:rPr>
              <a:t>Removed ~50 MB of intermediate weights (backup_78pct, backup_binary).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Deleted Scratch Scripts: </a:t>
            </a:r>
            <a:r>
              <a:rPr sz="1100">
                <a:solidFill>
                  <a:srgbClr val="94A3B8"/>
                </a:solidFill>
              </a:rPr>
              <a:t>Removed ad-hoc test scripts (inspect_tflite.py, test_image.py, dataset_structure.txt).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Updated .gitignore Rules: </a:t>
            </a:r>
            <a:r>
              <a:rPr sz="1100">
                <a:solidFill>
                  <a:srgbClr val="94A3B8"/>
                </a:solidFill>
              </a:rPr>
              <a:t>Added *.apk, *.aab, and **/checkpoints/ to guarantee no accidental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Quality Assurance &amp; CI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Automated Unit Testing: </a:t>
            </a:r>
            <a:r>
              <a:rPr sz="1100">
                <a:solidFill>
                  <a:srgbClr val="94A3B8"/>
                </a:solidFill>
              </a:rPr>
              <a:t>All Vitest test suites (vitest run) pass with 100% success covering ML inference and SQLite buffering.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Static Type Safety: </a:t>
            </a:r>
            <a:r>
              <a:rPr sz="1100">
                <a:solidFill>
                  <a:srgbClr val="94A3B8"/>
                </a:solidFill>
              </a:rPr>
              <a:t>Zero TypeScript compile errors across the entire app codebase (tsc --noEmit clean).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Race Condition Fix: </a:t>
            </a:r>
            <a:r>
              <a:rPr sz="1100">
                <a:solidFill>
                  <a:srgbClr val="94A3B8"/>
                </a:solidFill>
              </a:rPr>
              <a:t>Added cancellation ref checks across all async steps in camera capture to prevent unmounted state updates.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F8FAFC"/>
                </a:solidFill>
              </a:rPr>
              <a:t>Production Logging Gated: </a:t>
            </a:r>
            <a:r>
              <a:rPr sz="1100">
                <a:solidFill>
                  <a:srgbClr val="94A3B8"/>
                </a:solidFill>
              </a:rPr>
              <a:t>Console logs in inference, db init, and result screens gated behind __DEV__ flags.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Project Roadmap &amp; Next Horizons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Scaling Tirat AI across additional staple foods, hardware extensions, and field pilot deployments.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1. Brick Powder Fine-Graining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Integrate Mendeley Dataset cpm7y44746/1 to enable multi-level quantification of brick powder concentration (0% to 100%).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2. Real Teff Harvard Dataset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Train production multi-head network on Harvard Dataverse Teff dataset (5,000 images, DOI 10.7910/DVN/XKCEX3) to replace current dummy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Optical Clip-On Lens Support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Support 30x-100x smartphone macro clip-on lenses ($5-$10 accessories) to inspect microscopic grain morphology in field trials.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737360"/>
            <a:ext cx="2468880" cy="43891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4. Market Pilot &amp; Policy Integration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Deploy pilot app with agricultural inspectors in Addis Ababa and regional grain hubs with centralized batch telemetry sync.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Summary &amp; Project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Transforming mobile phones into reliable, offline food safety instruments.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Tirat AI (ጥራት) — Edge AI Food Adulteration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Key Milestones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✔  Diagnosed &amp; Solved Critical Model Skew: </a:t>
            </a:r>
            <a:r>
              <a:rPr sz="1200">
                <a:solidFill>
                  <a:srgbClr val="F8FAFC"/>
                </a:solidFill>
              </a:rPr>
              <a:t>Identified 10:1 class imbalance and double-normalization bugs, shifting pure recall from 0% to 96.8%.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✔  Engineered Robust Dataset: </a:t>
            </a:r>
            <a:r>
              <a:rPr sz="1200">
                <a:solidFill>
                  <a:srgbClr val="F8FAFC"/>
                </a:solidFill>
              </a:rPr>
              <a:t>Built balanced 1,232-image dataset with uniform coverage across 16 adulterants and handheld camera augmentations.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✔  High-Performance Edge AI: </a:t>
            </a:r>
            <a:r>
              <a:rPr sz="1200">
                <a:solidFill>
                  <a:srgbClr val="F8FAFC"/>
                </a:solidFill>
              </a:rPr>
              <a:t>Trained MobileNetV3-Small to 96.75% validation accuracy and deployed 1.95 MB Float16 TFLite model.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✔  Production Mobile Application: </a:t>
            </a:r>
            <a:r>
              <a:rPr sz="1200">
                <a:solidFill>
                  <a:srgbClr val="F8FAFC"/>
                </a:solidFill>
              </a:rPr>
              <a:t>Built offline-first React Native + Expo app with C++ native TFLite execution, SQLite buffering, and Amharic/English i18n.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✔  Clean, CI-Ready Repository: </a:t>
            </a:r>
            <a:r>
              <a:rPr sz="1200">
                <a:solidFill>
                  <a:srgbClr val="F8FAFC"/>
                </a:solidFill>
              </a:rPr>
              <a:t>Purged 317 MB of debug artifacts, passed all unit tests and TypeScript typechecks, with automated release APK signing.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